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9692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600" b="1">
                <a:solidFill>
                  <a:srgbClr val="141A16"/>
                </a:solidFill>
                <a:latin typeface="Verdana"/>
              </a:rPr>
              <a:t>ElimuTayari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71800"/>
            <a:ext cx="9326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500" b="0">
                <a:solidFill>
                  <a:srgbClr val="444E47"/>
                </a:solidFill>
                <a:latin typeface="Verdana"/>
              </a:rPr>
              <a:t>A CBC teaching companion for every Grade 10 teacher in Kenya — on the phone they already own.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434840"/>
            <a:ext cx="2011680" cy="38100"/>
          </a:xfrm>
          <a:prstGeom prst="rect">
            <a:avLst/>
          </a:prstGeom>
          <a:solidFill>
            <a:srgbClr val="0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800600"/>
            <a:ext cx="9144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41A16"/>
                </a:solidFill>
                <a:latin typeface="Verdana"/>
              </a:rPr>
              <a:t>No smartphone. No data bundle. No app to install.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7E8A82"/>
                </a:solidFill>
                <a:latin typeface="Verdana"/>
              </a:rPr>
              <a:t>Nirel · Alphonce · David · Millicent · Rhodah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0E7A4E"/>
                </a:solidFill>
                <a:latin typeface="Verdana"/>
              </a:rPr>
              <a:t>AI Mashinani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E7A4E"/>
                </a:solidFill>
                <a:latin typeface="Verdana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7E8A82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>
                <a:solidFill>
                  <a:srgbClr val="141A16"/>
                </a:solidFill>
                <a:latin typeface="Verdana"/>
              </a:rPr>
              <a:t>Senior School CBC landed. The support did not.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463040" cy="38100"/>
          </a:xfrm>
          <a:prstGeom prst="rect">
            <a:avLst/>
          </a:prstGeom>
          <a:solidFill>
            <a:srgbClr val="0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5943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sz="2200" b="1">
                <a:solidFill>
                  <a:srgbClr val="141A16"/>
                </a:solidFill>
                <a:latin typeface="Verdana"/>
              </a:rPr>
              <a:t>Grade 10 began under a curriculum most teachers had never taught.</a:t>
            </a:r>
          </a:p>
          <a:p>
            <a:pPr>
              <a:lnSpc>
                <a:spcPct val="135000"/>
              </a:lnSpc>
              <a:spcAft>
                <a:spcPts val="1400"/>
              </a:spcAft>
            </a:pPr>
            <a:r>
              <a:rPr sz="1600" b="0">
                <a:solidFill>
                  <a:srgbClr val="444E47"/>
                </a:solidFill>
                <a:latin typeface="Verdana"/>
              </a:rPr>
              <a:t>Each learning area is a new KICD design: English alone is 45 sub-strands across 9 themes and 180 lessons, each with its own outcomes, learning experiences and assessment.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444E47"/>
                </a:solidFill>
                <a:latin typeface="Verdana"/>
              </a:rPr>
              <a:t>The teaching aids built for it assume a smartphone, a data bundle and an app store — which is not what a teacher in Turkana or Kitui is holding.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194560"/>
            <a:ext cx="4160520" cy="1371600"/>
          </a:xfrm>
          <a:prstGeom prst="roundRect">
            <a:avLst>
              <a:gd name="adj" fmla="val 6000"/>
            </a:avLst>
          </a:prstGeom>
          <a:solidFill>
            <a:srgbClr val="E4F0E9"/>
          </a:solidFill>
          <a:ln w="12700">
            <a:solidFill>
              <a:srgbClr val="E4F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395728"/>
            <a:ext cx="12344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E7A4E"/>
                </a:solidFill>
                <a:latin typeface="Verdana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2395728"/>
            <a:ext cx="23774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1A16"/>
                </a:solidFill>
                <a:latin typeface="Verdana"/>
              </a:rPr>
              <a:t>of Kenyan teachers can be reached on a basic GSM phone — USSD and SMS need no data and no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794760"/>
            <a:ext cx="4160520" cy="1371600"/>
          </a:xfrm>
          <a:prstGeom prst="roundRect">
            <a:avLst>
              <a:gd name="adj" fmla="val 6000"/>
            </a:avLst>
          </a:prstGeom>
          <a:solidFill>
            <a:srgbClr val="E4F0E9"/>
          </a:solidFill>
          <a:ln w="12700">
            <a:solidFill>
              <a:srgbClr val="E4F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3995928"/>
            <a:ext cx="12344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E7A4E"/>
                </a:solidFill>
                <a:latin typeface="Verdana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3995928"/>
            <a:ext cx="23774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1A16"/>
                </a:solidFill>
                <a:latin typeface="Verdana"/>
              </a:rPr>
              <a:t>curriculum-faithful teaching packs delivered that way 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5440680"/>
            <a:ext cx="4160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0E7A4E"/>
                </a:solidFill>
                <a:latin typeface="Verdana"/>
              </a:rPr>
              <a:t>So the phone is not the constraint. The delivery 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E7A4E"/>
                </a:solidFill>
                <a:latin typeface="Verdana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7E8A82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>
                <a:solidFill>
                  <a:srgbClr val="141A16"/>
                </a:solidFill>
                <a:latin typeface="Verdana"/>
              </a:rPr>
              <a:t>Dial a code. Teach the lesson. Reply with what confused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463040" cy="38100"/>
          </a:xfrm>
          <a:prstGeom prst="rect">
            <a:avLst/>
          </a:prstGeom>
          <a:solidFill>
            <a:srgbClr val="0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2395728" cy="214884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 w="12700">
            <a:solidFill>
              <a:srgbClr val="0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514600"/>
            <a:ext cx="420624" cy="420624"/>
          </a:xfrm>
          <a:prstGeom prst="ellipse">
            <a:avLst/>
          </a:prstGeom>
          <a:solidFill>
            <a:srgbClr val="0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AFAF7"/>
                </a:solidFill>
                <a:latin typeface="Verdan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3108960"/>
            <a:ext cx="1883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E7A4E"/>
                </a:solidFill>
                <a:latin typeface="Verdana"/>
              </a:rPr>
              <a:t>DIAL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456432"/>
            <a:ext cx="18836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444E47"/>
                </a:solidFill>
                <a:latin typeface="Verdana"/>
              </a:rPr>
              <a:t>Teacher dials *384*XXXX# and browses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444E47"/>
                </a:solidFill>
                <a:latin typeface="Verdana"/>
              </a:rPr>
              <a:t>learning area → strand → sub-strand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09544" y="3246120"/>
            <a:ext cx="182880" cy="182880"/>
          </a:xfrm>
          <a:prstGeom prst="rightArrow">
            <a:avLst/>
          </a:prstGeom>
          <a:solidFill>
            <a:srgbClr val="7E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0" y="2286000"/>
            <a:ext cx="2395728" cy="214884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 w="12700">
            <a:solidFill>
              <a:srgbClr val="DC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85032" y="2514600"/>
            <a:ext cx="420624" cy="420624"/>
          </a:xfrm>
          <a:prstGeom prst="ellipse">
            <a:avLst/>
          </a:prstGeom>
          <a:solidFill>
            <a:srgbClr val="0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AFAF7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3108960"/>
            <a:ext cx="1883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E7A4E"/>
                </a:solidFill>
                <a:latin typeface="Verdana"/>
              </a:rPr>
              <a:t>RECEIVE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3456432"/>
            <a:ext cx="18836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444E47"/>
                </a:solidFill>
                <a:latin typeface="Verdana"/>
              </a:rPr>
              <a:t>Pack arrives by SMS in whole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444E47"/>
                </a:solidFill>
                <a:latin typeface="Verdana"/>
              </a:rPr>
              <a:t>160-character parts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61304" y="3246120"/>
            <a:ext cx="182880" cy="182880"/>
          </a:xfrm>
          <a:prstGeom prst="rightArrow">
            <a:avLst/>
          </a:prstGeom>
          <a:solidFill>
            <a:srgbClr val="7E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80760" y="2286000"/>
            <a:ext cx="2395728" cy="214884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 w="12700">
            <a:solidFill>
              <a:srgbClr val="0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36792" y="2514600"/>
            <a:ext cx="420624" cy="420624"/>
          </a:xfrm>
          <a:prstGeom prst="ellipse">
            <a:avLst/>
          </a:prstGeom>
          <a:solidFill>
            <a:srgbClr val="0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AFAF7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108960"/>
            <a:ext cx="1883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E7A4E"/>
                </a:solidFill>
                <a:latin typeface="Verdana"/>
              </a:rPr>
              <a:t>REPLY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3456432"/>
            <a:ext cx="18836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444E47"/>
                </a:solidFill>
                <a:latin typeface="Verdana"/>
              </a:rPr>
              <a:t>After class: Q M-ALG-02 Why do we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444E47"/>
                </a:solidFill>
                <a:latin typeface="Verdana"/>
              </a:rPr>
              <a:t>swap the sign?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513064" y="3246120"/>
            <a:ext cx="182880" cy="182880"/>
          </a:xfrm>
          <a:prstGeom prst="rightArrow">
            <a:avLst/>
          </a:prstGeom>
          <a:solidFill>
            <a:srgbClr val="7E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32520" y="2286000"/>
            <a:ext cx="2395728" cy="214884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 w="12700">
            <a:solidFill>
              <a:srgbClr val="DC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988552" y="2514600"/>
            <a:ext cx="420624" cy="420624"/>
          </a:xfrm>
          <a:prstGeom prst="ellipse">
            <a:avLst/>
          </a:prstGeom>
          <a:solidFill>
            <a:srgbClr val="0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AFAF7"/>
                </a:solidFill>
                <a:latin typeface="Verdan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8552" y="3108960"/>
            <a:ext cx="1883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E7A4E"/>
                </a:solidFill>
                <a:latin typeface="Verdana"/>
              </a:rPr>
              <a:t>COMPOUND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3456432"/>
            <a:ext cx="18836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444E47"/>
                </a:solidFill>
                <a:latin typeface="Verdana"/>
              </a:rPr>
              <a:t>Questions drive test generation and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444E47"/>
                </a:solidFill>
                <a:latin typeface="Verdana"/>
              </a:rPr>
              <a:t>topic-difficulty analytics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754880"/>
            <a:ext cx="10637215" cy="960120"/>
          </a:xfrm>
          <a:prstGeom prst="roundRect">
            <a:avLst>
              <a:gd name="adj" fmla="val 6000"/>
            </a:avLst>
          </a:prstGeom>
          <a:solidFill>
            <a:srgbClr val="E4F0E9"/>
          </a:solidFill>
          <a:ln w="12700">
            <a:solidFill>
              <a:srgbClr val="E4F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41A16"/>
                </a:solidFill>
                <a:latin typeface="Verdana"/>
              </a:rPr>
              <a:t>The loop closes: every question a teacher sends back makes the next teacher's pack, and the next test, better.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E7A4E"/>
                </a:solidFill>
                <a:latin typeface="Verdana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7E8A82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>
                <a:solidFill>
                  <a:srgbClr val="141A16"/>
                </a:solidFill>
                <a:latin typeface="Verdana"/>
              </a:rPr>
              <a:t>Watch this happen on a real phone.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463040" cy="38100"/>
          </a:xfrm>
          <a:prstGeom prst="rect">
            <a:avLst/>
          </a:prstGeom>
          <a:solidFill>
            <a:srgbClr val="0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57607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>
                <a:solidFill>
                  <a:srgbClr val="0E7A4E"/>
                </a:solidFill>
                <a:latin typeface="Verdana"/>
              </a:rPr>
              <a:t>What you are about to see</a:t>
            </a:r>
          </a:p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1600" b="0">
                <a:solidFill>
                  <a:srgbClr val="444E47"/>
                </a:solidFill>
                <a:latin typeface="Verdana"/>
              </a:rPr>
              <a:t>→  Dial *384*XXXX# — no data, no app.</a:t>
            </a:r>
          </a:p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1600" b="0">
                <a:solidFill>
                  <a:srgbClr val="444E47"/>
                </a:solidFill>
                <a:latin typeface="Verdana"/>
              </a:rPr>
              <a:t>→  Browse Core Mathematics → Algebra → Indices and Logarithms.</a:t>
            </a:r>
          </a:p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1600" b="0">
                <a:solidFill>
                  <a:srgbClr val="444E47"/>
                </a:solidFill>
                <a:latin typeface="Verdana"/>
              </a:rPr>
              <a:t>→  The teaching pack arrives by SMS, split into whole 160-character parts.</a:t>
            </a:r>
          </a:p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1600" b="0">
                <a:solidFill>
                  <a:srgbClr val="444E47"/>
                </a:solidFill>
                <a:latin typeface="Verdana"/>
              </a:rPr>
              <a:t>→  Reply Q M-ALG-02 with a student's question.</a:t>
            </a:r>
          </a:p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1600" b="0">
                <a:solidFill>
                  <a:srgbClr val="444E47"/>
                </a:solidFill>
                <a:latin typeface="Verdana"/>
              </a:rPr>
              <a:t>→  The question lands against that sub-strand, ready for test generation.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148840"/>
            <a:ext cx="4160520" cy="2880360"/>
          </a:xfrm>
          <a:prstGeom prst="roundRect">
            <a:avLst>
              <a:gd name="adj" fmla="val 6000"/>
            </a:avLst>
          </a:prstGeom>
          <a:solidFill>
            <a:srgbClr val="141A16"/>
          </a:solidFill>
          <a:ln w="12700">
            <a:solidFill>
              <a:srgbClr val="141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74320"/>
          <a:lstStyle/>
          <a:p>
            <a:pPr algn="ctr">
              <a:lnSpc>
                <a:spcPct val="125000"/>
              </a:lnSpc>
              <a:spcAft>
                <a:spcPts val="900"/>
              </a:spcAft>
            </a:pPr>
            <a:r>
              <a:rPr sz="1600" b="1">
                <a:solidFill>
                  <a:srgbClr val="8BE8B4"/>
                </a:solidFill>
                <a:latin typeface="Courier New"/>
              </a:rPr>
              <a:t>Welcome to ElimuTayari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600" b="0">
                <a:solidFill>
                  <a:srgbClr val="FAFAF7"/>
                </a:solidFill>
                <a:latin typeface="Courier New"/>
              </a:rPr>
              <a:t>1. Core Mathematics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600" b="0">
                <a:solidFill>
                  <a:srgbClr val="FAFAF7"/>
                </a:solidFill>
                <a:latin typeface="Courier New"/>
              </a:rPr>
              <a:t>Or enter a sub-strand code e.g. M-ALG-02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7E8A82"/>
                </a:solidFill>
                <a:latin typeface="Courier New"/>
              </a:rPr>
              <a:t>—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8BE8B4"/>
                </a:solidFill>
                <a:latin typeface="Courier New"/>
              </a:rPr>
              <a:t>Q M-ALG-02 Why do we swap the sign?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5166360"/>
            <a:ext cx="4160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E8A82"/>
                </a:solidFill>
                <a:latin typeface="Verdana"/>
              </a:rPr>
              <a:t>Every screen fits 160 characters — enforced by test, not by hope.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E7A4E"/>
                </a:solidFill>
                <a:latin typeface="Verdana"/>
              </a:rPr>
              <a:t>THE ARCHITECTURE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7E8A82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>
                <a:solidFill>
                  <a:srgbClr val="141A16"/>
                </a:solidFill>
                <a:latin typeface="Verdana"/>
              </a:rPr>
              <a:t>We chose a wiki, not a chatbot.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463040" cy="38100"/>
          </a:xfrm>
          <a:prstGeom prst="rect">
            <a:avLst/>
          </a:prstGeom>
          <a:solidFill>
            <a:srgbClr val="0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141A16"/>
                </a:solidFill>
                <a:latin typeface="Verdana"/>
              </a:rPr>
              <a:t>Curriculum is static. A sub-strand does not change per teacher or per question — so generating it once and reviewing it once beats regenerating it on every request.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63240"/>
            <a:ext cx="3337560" cy="260604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 w="12700">
            <a:solidFill>
              <a:srgbClr val="DC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3337560"/>
            <a:ext cx="685800" cy="38100"/>
          </a:xfrm>
          <a:prstGeom prst="rect">
            <a:avLst/>
          </a:prstGeom>
          <a:solidFill>
            <a:srgbClr val="0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547872"/>
            <a:ext cx="2788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41A16"/>
                </a:solidFill>
                <a:latin typeface="Verdana"/>
              </a:rPr>
              <a:t>Zero token cost per lesson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224528"/>
            <a:ext cx="27889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444E47"/>
                </a:solidFill>
                <a:latin typeface="Verdana"/>
              </a:rPr>
              <a:t>A teaching pack is a database read, not an inference. The next teacher costs one SMS — so this scales without the model bill scaling with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063240"/>
            <a:ext cx="3337560" cy="260604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 w="12700">
            <a:solidFill>
              <a:srgbClr val="DC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3337560"/>
            <a:ext cx="685800" cy="38100"/>
          </a:xfrm>
          <a:prstGeom prst="rect">
            <a:avLst/>
          </a:prstGeom>
          <a:solidFill>
            <a:srgbClr val="0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547872"/>
            <a:ext cx="2788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41A16"/>
                </a:solidFill>
                <a:latin typeface="Verdana"/>
              </a:rPr>
              <a:t>Deterministic, so reviewable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224528"/>
            <a:ext cx="27889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444E47"/>
                </a:solidFill>
                <a:latin typeface="Verdana"/>
              </a:rPr>
              <a:t>The same code returns the same page every time. That is what makes sign-off possible — you cannot review an answer regenerated on every ask.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3063240"/>
            <a:ext cx="3337560" cy="260604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 w="12700">
            <a:solidFill>
              <a:srgbClr val="DC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3337560"/>
            <a:ext cx="685800" cy="38100"/>
          </a:xfrm>
          <a:prstGeom prst="rect">
            <a:avLst/>
          </a:prstGeom>
          <a:solidFill>
            <a:srgbClr val="0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3547872"/>
            <a:ext cx="2788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41A16"/>
                </a:solidFill>
                <a:latin typeface="Verdana"/>
              </a:rPr>
              <a:t>Hallucination cannot reach a class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4224528"/>
            <a:ext cx="27889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444E47"/>
                </a:solidFill>
                <a:latin typeface="Verdana"/>
              </a:rPr>
              <a:t>Content comes from the official KICD design, marked draft-human-review until a teacher approves it. The live model only writes tests and clusters questions.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E8A82"/>
                </a:solidFill>
                <a:latin typeface="Verdana"/>
              </a:rPr>
              <a:t>FastAPI · Alembic migrations that run on SQLite and Postgres alike · injectable Claude seam · 72 automated tests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E7A4E"/>
                </a:solidFill>
                <a:latin typeface="Verdana"/>
              </a:rPr>
              <a:t>ONLINE AND OFFLINE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7E8A82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>
                <a:solidFill>
                  <a:srgbClr val="141A16"/>
                </a:solidFill>
                <a:latin typeface="Verdana"/>
              </a:rPr>
              <a:t>The board works online. The teacher does not have 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463040" cy="38100"/>
          </a:xfrm>
          <a:prstGeom prst="rect">
            <a:avLst/>
          </a:prstGeom>
          <a:solidFill>
            <a:srgbClr val="0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E7A4E"/>
                </a:solidFill>
                <a:latin typeface="Verdana"/>
              </a:rPr>
              <a:t>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1031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7E8A82"/>
                </a:solidFill>
                <a:latin typeface="Verdana"/>
              </a:rPr>
              <a:t>The education board owns the content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87168"/>
            <a:ext cx="3337560" cy="1143000"/>
          </a:xfrm>
          <a:prstGeom prst="roundRect">
            <a:avLst>
              <a:gd name="adj" fmla="val 6000"/>
            </a:avLst>
          </a:prstGeom>
          <a:solidFill>
            <a:srgbClr val="E4F0E9"/>
          </a:solidFill>
          <a:ln w="12700">
            <a:solidFill>
              <a:srgbClr val="E4F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141A16"/>
                </a:solidFill>
                <a:latin typeface="Verdana"/>
              </a:rPr>
              <a:t>Board reviews the official KICD design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60520" y="2980944"/>
            <a:ext cx="182880" cy="164592"/>
          </a:xfrm>
          <a:prstGeom prst="rightArrow">
            <a:avLst/>
          </a:prstGeom>
          <a:solidFill>
            <a:srgbClr val="7E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2487168"/>
            <a:ext cx="3337560" cy="1143000"/>
          </a:xfrm>
          <a:prstGeom prst="roundRect">
            <a:avLst>
              <a:gd name="adj" fmla="val 6000"/>
            </a:avLst>
          </a:prstGeom>
          <a:solidFill>
            <a:srgbClr val="E4F0E9"/>
          </a:solidFill>
          <a:ln w="12700">
            <a:solidFill>
              <a:srgbClr val="E4F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141A16"/>
                </a:solidFill>
                <a:latin typeface="Verdana"/>
              </a:rPr>
              <a:t>Wiki updated — Markdown, versioned, signed off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72400" y="2980944"/>
            <a:ext cx="182880" cy="164592"/>
          </a:xfrm>
          <a:prstGeom prst="rightArrow">
            <a:avLst/>
          </a:prstGeom>
          <a:solidFill>
            <a:srgbClr val="7E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01000" y="2487168"/>
            <a:ext cx="3337560" cy="1143000"/>
          </a:xfrm>
          <a:prstGeom prst="roundRect">
            <a:avLst>
              <a:gd name="adj" fmla="val 6000"/>
            </a:avLst>
          </a:prstGeom>
          <a:solidFill>
            <a:srgbClr val="E4F0E9"/>
          </a:solidFill>
          <a:ln w="12700">
            <a:solidFill>
              <a:srgbClr val="E4F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141A16"/>
                </a:solidFill>
                <a:latin typeface="Verdana"/>
              </a:rPr>
              <a:t>Seeded into the database on 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519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A16"/>
                </a:solidFill>
                <a:latin typeface="Verdana"/>
              </a:rPr>
              <a:t>OFFLINE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2519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7E8A82"/>
                </a:solidFill>
                <a:latin typeface="Verdana"/>
              </a:rPr>
              <a:t>The teacher needs no connectivity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36008"/>
            <a:ext cx="3337560" cy="114300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 w="12700">
            <a:solidFill>
              <a:srgbClr val="DC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141A16"/>
                </a:solidFill>
                <a:latin typeface="Verdana"/>
              </a:rPr>
              <a:t>Dials USSD from any GSM phone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60520" y="5129784"/>
            <a:ext cx="182880" cy="164592"/>
          </a:xfrm>
          <a:prstGeom prst="rightArrow">
            <a:avLst/>
          </a:prstGeom>
          <a:solidFill>
            <a:srgbClr val="7E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4636008"/>
            <a:ext cx="3337560" cy="114300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 w="12700">
            <a:solidFill>
              <a:srgbClr val="DC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141A16"/>
                </a:solidFill>
                <a:latin typeface="Verdana"/>
              </a:rPr>
              <a:t>Teaching pack arrives by SMS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772400" y="5129784"/>
            <a:ext cx="182880" cy="164592"/>
          </a:xfrm>
          <a:prstGeom prst="rightArrow">
            <a:avLst/>
          </a:prstGeom>
          <a:solidFill>
            <a:srgbClr val="7E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01000" y="4636008"/>
            <a:ext cx="3337560" cy="114300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 w="12700">
            <a:solidFill>
              <a:srgbClr val="DC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141A16"/>
                </a:solidFill>
                <a:latin typeface="Verdana"/>
              </a:rPr>
              <a:t>Replies with student questions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13632"/>
            <a:ext cx="10637215" cy="15875"/>
          </a:xfrm>
          <a:prstGeom prst="rect">
            <a:avLst/>
          </a:prstGeom>
          <a:solidFill>
            <a:srgbClr val="DC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66160" y="3703320"/>
            <a:ext cx="5074920" cy="420624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 w="12700">
            <a:solidFill>
              <a:srgbClr val="0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E7A4E"/>
                </a:solidFill>
                <a:latin typeface="Verdana"/>
              </a:rPr>
              <a:t>Below this line, nothing needs the internet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A16"/>
                </a:solidFill>
                <a:latin typeface="Verdana"/>
              </a:rPr>
              <a:t>Content updates are an institutional job, done once, online. Teaching is a daily job, done anywhere, offline.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E7A4E"/>
                </a:solidFill>
                <a:latin typeface="Verdana"/>
              </a:rPr>
              <a:t>WHERE THIS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7E8A82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>
                <a:solidFill>
                  <a:srgbClr val="141A16"/>
                </a:solidFill>
                <a:latin typeface="Verdana"/>
              </a:rPr>
              <a:t>One subject works. The pipeline does the rest.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463040" cy="38100"/>
          </a:xfrm>
          <a:prstGeom prst="rect">
            <a:avLst/>
          </a:prstGeom>
          <a:solidFill>
            <a:srgbClr val="0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E7A4E"/>
                </a:solidFill>
                <a:latin typeface="Verdana"/>
              </a:rPr>
              <a:t>BUILT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514600"/>
            <a:ext cx="5120640" cy="15875"/>
          </a:xfrm>
          <a:prstGeom prst="rect">
            <a:avLst/>
          </a:prstGeom>
          <a:solidFill>
            <a:srgbClr val="DC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51206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0">
                <a:solidFill>
                  <a:srgbClr val="141A16"/>
                </a:solidFill>
                <a:latin typeface="Verdana"/>
              </a:rPr>
              <a:t>✓  USSD browse over the seeded curriculum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0">
                <a:solidFill>
                  <a:srgbClr val="141A16"/>
                </a:solidFill>
                <a:latin typeface="Verdana"/>
              </a:rPr>
              <a:t>✓  SMS teaching packs, split to 160 characters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0">
                <a:solidFill>
                  <a:srgbClr val="141A16"/>
                </a:solidFill>
                <a:latin typeface="Verdana"/>
              </a:rPr>
              <a:t>✓  Q/T question capture from any phone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0">
                <a:solidFill>
                  <a:srgbClr val="141A16"/>
                </a:solidFill>
                <a:latin typeface="Verdana"/>
              </a:rPr>
              <a:t>✓  Topic-difficulty analytics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0">
                <a:solidFill>
                  <a:srgbClr val="141A16"/>
                </a:solidFill>
                <a:latin typeface="Verdana"/>
              </a:rPr>
              <a:t>✓  Grade 10 Core Mathematics: 14 sub-strands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E8A82"/>
                </a:solidFill>
                <a:latin typeface="Verdana"/>
              </a:rPr>
              <a:t>NEXT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2514600"/>
            <a:ext cx="5120640" cy="15875"/>
          </a:xfrm>
          <a:prstGeom prst="rect">
            <a:avLst/>
          </a:prstGeom>
          <a:solidFill>
            <a:srgbClr val="DC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697480"/>
            <a:ext cx="51206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0">
                <a:solidFill>
                  <a:srgbClr val="444E47"/>
                </a:solidFill>
                <a:latin typeface="Verdana"/>
              </a:rPr>
              <a:t>·  English: all 45 sub-strands extracted from the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0">
                <a:solidFill>
                  <a:srgbClr val="444E47"/>
                </a:solidFill>
                <a:latin typeface="Verdana"/>
              </a:rPr>
              <a:t>    KICD design, pages pending review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0">
                <a:solidFill>
                  <a:srgbClr val="444E47"/>
                </a:solidFill>
                <a:latin typeface="Verdana"/>
              </a:rPr>
              <a:t>·  The remaining compulsory learning areas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0">
                <a:solidFill>
                  <a:srgbClr val="444E47"/>
                </a:solidFill>
                <a:latin typeface="Verdana"/>
              </a:rPr>
              <a:t>·  Claude-generated tests from real questions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0">
                <a:solidFill>
                  <a:srgbClr val="444E47"/>
                </a:solidFill>
                <a:latin typeface="Verdana"/>
              </a:rPr>
              <a:t>·  Pilot with a school, measured on packs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0">
                <a:solidFill>
                  <a:srgbClr val="444E47"/>
                </a:solidFill>
                <a:latin typeface="Verdana"/>
              </a:rPr>
              <a:t>    delivered and questions returned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257800"/>
            <a:ext cx="10637215" cy="960120"/>
          </a:xfrm>
          <a:prstGeom prst="roundRect">
            <a:avLst>
              <a:gd name="adj" fmla="val 6000"/>
            </a:avLst>
          </a:prstGeom>
          <a:solidFill>
            <a:srgbClr val="0E7A4E"/>
          </a:solidFill>
          <a:ln w="12700">
            <a:solidFill>
              <a:srgbClr val="0E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AFAF7"/>
                </a:solidFill>
                <a:latin typeface="Verdana"/>
              </a:rPr>
              <a:t>Every Kenyan teacher already owns the hardware. We are asking for the pilot that proves the loop.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